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2"/>
  </p:notesMasterIdLst>
  <p:sldIdLst>
    <p:sldId id="290" r:id="rId2"/>
    <p:sldId id="292" r:id="rId3"/>
    <p:sldId id="291"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nav Kurupath" initials="P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commentAuthors" Target="commentAuthor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notesMaster" Target="notesMasters/notesMaster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t>7xxxxxxxxx9</a:t>
            </a: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9.xml" /><Relationship Id="rId1" Type="http://schemas.openxmlformats.org/officeDocument/2006/relationships/slideLayout" Target="../slideLayouts/slideLayout1.xml" /><Relationship Id="rId4" Type="http://schemas.openxmlformats.org/officeDocument/2006/relationships/image" Target="../media/image8.jpeg" /></Relationships>
</file>

<file path=ppt/slides/_rels/slide12.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kurupathpranav-spec/InterviewIQ-Agent" TargetMode="External"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46345"/>
          </a:xfrm>
          <a:prstGeom prst="rect">
            <a:avLst/>
          </a:prstGeom>
          <a:noFill/>
        </p:spPr>
        <p:txBody>
          <a:bodyPr wrap="square" rtlCol="0">
            <a:spAutoFit/>
          </a:bodyPr>
          <a:lstStyle/>
          <a:p>
            <a:pPr fontAlgn="base"/>
            <a:r>
              <a:rPr lang="en-US" b="1" dirty="0"/>
              <a:t>Problem Statement </a:t>
            </a:r>
            <a:r>
              <a:rPr lang="en-US" dirty="0"/>
              <a:t>: </a:t>
            </a:r>
            <a:r>
              <a:rPr lang="en-IN" altLang="en-US" b="1" dirty="0"/>
              <a:t>Interview Trainer Agent</a:t>
            </a:r>
            <a:endParaRPr lang="en-US" dirty="0"/>
          </a:p>
          <a:p>
            <a:pPr fontAlgn="base"/>
            <a:endParaRPr lang="en-US" dirty="0"/>
          </a:p>
          <a:p>
            <a:pPr fontAlgn="base"/>
            <a:r>
              <a:rPr lang="en-US" dirty="0"/>
              <a:t>The Challenge </a:t>
            </a:r>
          </a:p>
          <a:p>
            <a:pPr fontAlgn="base"/>
            <a:r>
              <a:rPr lang="en-US" altLang="en-US" b="1" dirty="0"/>
              <a:t>Students </a:t>
            </a:r>
            <a:r>
              <a:rPr lang="en-US" altLang="en-US" dirty="0"/>
              <a:t>and </a:t>
            </a:r>
            <a:r>
              <a:rPr lang="en-US" altLang="en-US" b="1" dirty="0"/>
              <a:t>job seekers </a:t>
            </a:r>
            <a:r>
              <a:rPr lang="en-US" altLang="en-US" dirty="0"/>
              <a:t>often struggle with interview preparation, question selection, and performance evaluation. Traditional preparation methods provide generic questions and lack personalized practice, realistic interview simulations, and actionable feedback. Without intelligent guidance, candidates may find it difficult to identify their weak areas and improve their </a:t>
            </a:r>
            <a:r>
              <a:rPr lang="en-US" altLang="en-US" b="1" dirty="0"/>
              <a:t>interview performance</a:t>
            </a:r>
            <a:r>
              <a:rPr lang="en-US" altLang="en-US" dirty="0"/>
              <a:t>.</a:t>
            </a:r>
            <a:r>
              <a:rPr lang="en-US" dirty="0"/>
              <a:t> </a:t>
            </a:r>
          </a:p>
          <a:p>
            <a:pPr fontAlgn="base"/>
            <a:endParaRPr lang="en-US" dirty="0"/>
          </a:p>
          <a:p>
            <a:pPr fontAlgn="base"/>
            <a:r>
              <a:rPr lang="en-US" b="1" dirty="0"/>
              <a:t>The Objective</a:t>
            </a:r>
            <a:r>
              <a:rPr lang="en-US" dirty="0"/>
              <a:t> </a:t>
            </a:r>
          </a:p>
          <a:p>
            <a:pPr fontAlgn="base"/>
            <a:r>
              <a:rPr lang="en-US" altLang="en-US" dirty="0"/>
              <a:t>Build an </a:t>
            </a:r>
            <a:r>
              <a:rPr lang="en-US" altLang="en-US" b="1" dirty="0"/>
              <a:t>AI</a:t>
            </a:r>
            <a:r>
              <a:rPr lang="en-US" altLang="en-US" dirty="0"/>
              <a:t>-</a:t>
            </a:r>
            <a:r>
              <a:rPr lang="en-US" altLang="en-US" b="1" dirty="0"/>
              <a:t>powered Interview Agent </a:t>
            </a:r>
            <a:r>
              <a:rPr lang="en-US" altLang="en-US" dirty="0"/>
              <a:t>that delivers personalized interview preparation, realistic practice, and performance feedback for candidates. The solution should:</a:t>
            </a:r>
          </a:p>
          <a:p>
            <a:pPr fontAlgn="base"/>
            <a:r>
              <a:rPr lang="en-US" altLang="en-US" b="1" dirty="0"/>
              <a:t>Personalized Interview Preparation </a:t>
            </a:r>
            <a:r>
              <a:rPr lang="en-US" altLang="en-US" dirty="0"/>
              <a:t>– Generate questions based on the candidate’s resume, skills, and target role.</a:t>
            </a:r>
          </a:p>
          <a:p>
            <a:pPr fontAlgn="base"/>
            <a:r>
              <a:rPr lang="en-US" altLang="en-US" b="1" dirty="0"/>
              <a:t>AI Question Generation </a:t>
            </a:r>
            <a:r>
              <a:rPr lang="en-US" altLang="en-US" dirty="0"/>
              <a:t>– Create relevant technical, HR, and behavioral interview questions.</a:t>
            </a:r>
          </a:p>
          <a:p>
            <a:pPr fontAlgn="base"/>
            <a:r>
              <a:rPr lang="en-US" altLang="en-US" b="1" dirty="0"/>
              <a:t>Interview Simulation </a:t>
            </a:r>
            <a:r>
              <a:rPr lang="en-US" altLang="en-US" dirty="0"/>
              <a:t>– Conduct structured mock interviews to provide a realistic practice experience.</a:t>
            </a:r>
          </a:p>
          <a:p>
            <a:pPr fontAlgn="base"/>
            <a:r>
              <a:rPr lang="en-US" altLang="en-US" b="1" dirty="0"/>
              <a:t>Answer Evaluation </a:t>
            </a:r>
            <a:r>
              <a:rPr lang="en-US" altLang="en-US" dirty="0"/>
              <a:t>&amp; </a:t>
            </a:r>
            <a:r>
              <a:rPr lang="en-US" altLang="en-US" b="1" dirty="0"/>
              <a:t>Feedback </a:t>
            </a:r>
            <a:r>
              <a:rPr lang="en-US" altLang="en-US" dirty="0"/>
              <a:t>– Analyze responses and provide constructive feedback and improvement suggestions.</a:t>
            </a:r>
          </a:p>
          <a:p>
            <a:pPr fontAlgn="base"/>
            <a:r>
              <a:rPr lang="en-US" altLang="en-US" b="1" dirty="0"/>
              <a:t>Performance Analysis </a:t>
            </a:r>
            <a:r>
              <a:rPr lang="en-US" altLang="en-US" dirty="0"/>
              <a:t>– Identify strengths, weaknesses, and areas requiring improvement.</a:t>
            </a:r>
          </a:p>
          <a:p>
            <a:pPr fontAlgn="base"/>
            <a:r>
              <a:rPr lang="en-US" altLang="en-US" b="1" dirty="0"/>
              <a:t>Multi</a:t>
            </a:r>
            <a:r>
              <a:rPr lang="en-US" altLang="en-US" dirty="0"/>
              <a:t>-</a:t>
            </a:r>
            <a:r>
              <a:rPr lang="en-US" altLang="en-US" b="1" dirty="0"/>
              <a:t>Agent System</a:t>
            </a:r>
            <a:r>
              <a:rPr lang="en-IN" altLang="en-US" b="1" dirty="0"/>
              <a:t> :</a:t>
            </a:r>
            <a:r>
              <a:rPr lang="en-US" altLang="en-US" b="1" dirty="0"/>
              <a:t> </a:t>
            </a:r>
            <a:r>
              <a:rPr lang="en-US" altLang="en-US" dirty="0"/>
              <a:t>–</a:t>
            </a:r>
          </a:p>
          <a:p>
            <a:pPr fontAlgn="base"/>
            <a:r>
              <a:rPr lang="en-US" altLang="en-US" b="1" dirty="0"/>
              <a:t>Interview Question Agent </a:t>
            </a:r>
            <a:r>
              <a:rPr lang="en-US" altLang="en-US" dirty="0"/>
              <a:t>– Generates relevant interview questions.</a:t>
            </a:r>
          </a:p>
          <a:p>
            <a:pPr fontAlgn="base"/>
            <a:r>
              <a:rPr lang="en-US" altLang="en-US" b="1" dirty="0"/>
              <a:t>Interview Evaluation Agent </a:t>
            </a:r>
            <a:r>
              <a:rPr lang="en-US" altLang="en-US" dirty="0"/>
              <a:t>– Evaluates candidate responses.</a:t>
            </a:r>
          </a:p>
          <a:p>
            <a:pPr fontAlgn="base"/>
            <a:r>
              <a:rPr lang="en-US" altLang="en-US" b="1" dirty="0"/>
              <a:t>Feedback Agent </a:t>
            </a:r>
            <a:r>
              <a:rPr lang="en-US" altLang="en-US" dirty="0"/>
              <a:t>– Provides personalized feedback and recommendations.</a:t>
            </a:r>
          </a:p>
          <a:p>
            <a:pPr fontAlgn="base"/>
            <a:r>
              <a:rPr lang="en-US" altLang="en-US" b="1" dirty="0"/>
              <a:t>Performance Dashboard </a:t>
            </a:r>
            <a:r>
              <a:rPr lang="en-US" altLang="en-US" dirty="0"/>
              <a:t>– Display interview results, scores, strengths, weaknesses, and overall progress.</a:t>
            </a:r>
            <a:r>
              <a:rPr lang="en-US" dirty="0"/>
              <a:t> </a:t>
            </a: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1"/>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dirty="0"/>
                        <a:t>Pranav K</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Kxxxxxxxx@gmail.com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a:t>7xxxxxxxxx9</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srcRect/>
          <a:stretch>
            <a:fillRect/>
          </a:stretch>
        </p:blipFill>
        <p:spPr>
          <a:xfrm>
            <a:off x="4144212" y="3662947"/>
            <a:ext cx="844884" cy="855579"/>
          </a:xfrm>
          <a:prstGeom prst="rect">
            <a:avLst/>
          </a:prstGeom>
          <a:noFill/>
          <a:ln>
            <a:noFill/>
          </a:ln>
        </p:spPr>
      </p:pic>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IN" altLang="en-US" sz="2400" b="1"/>
              <a:t>Education &amp; Career Development</a:t>
            </a:r>
            <a:endParaRPr lang="en-IN" altLang="en-US"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IN" altLang="en-US" sz="2400" b="1"/>
              <a:t>InterviewIQ-Agent</a:t>
            </a:r>
            <a:endParaRPr lang="en-IN" altLang="en-US"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5945" y="1234440"/>
            <a:ext cx="10607040" cy="3852545"/>
          </a:xfrm>
          <a:prstGeom prst="rect">
            <a:avLst/>
          </a:prstGeom>
          <a:noFill/>
        </p:spPr>
        <p:txBody>
          <a:bodyPr wrap="square" rtlCol="0">
            <a:noAutofit/>
          </a:bodyPr>
          <a:lstStyle/>
          <a:p>
            <a:pPr fontAlgn="base"/>
            <a:endParaRPr lang="en-US" b="1"/>
          </a:p>
          <a:p>
            <a:r>
              <a:rPr lang="en-US" b="1"/>
              <a:t>Proposed Solution: AI-Powered </a:t>
            </a:r>
            <a:r>
              <a:rPr lang="en-IN" altLang="en-US" b="1"/>
              <a:t>InterviewIQ-Agent</a:t>
            </a:r>
            <a:endParaRPr lang="en-US" b="1"/>
          </a:p>
          <a:p>
            <a:r>
              <a:rPr lang="en-US" altLang="en-US"/>
              <a:t>The proposed solution is a </a:t>
            </a:r>
            <a:r>
              <a:rPr lang="en-US" altLang="en-US" b="1"/>
              <a:t>multi</a:t>
            </a:r>
            <a:r>
              <a:rPr lang="en-US" altLang="en-US"/>
              <a:t>-</a:t>
            </a:r>
            <a:r>
              <a:rPr lang="en-US" altLang="en-US" b="1"/>
              <a:t>agent AI</a:t>
            </a:r>
            <a:r>
              <a:rPr lang="en-US" altLang="en-US"/>
              <a:t>-</a:t>
            </a:r>
            <a:r>
              <a:rPr lang="en-US" altLang="en-US" b="1"/>
              <a:t>powered Interview Agent </a:t>
            </a:r>
            <a:r>
              <a:rPr lang="en-US" altLang="en-US"/>
              <a:t>built using </a:t>
            </a:r>
            <a:r>
              <a:rPr lang="en-US" altLang="en-US" b="1"/>
              <a:t>IBM BOB</a:t>
            </a:r>
            <a:r>
              <a:rPr lang="en-US" altLang="en-US"/>
              <a:t>, </a:t>
            </a:r>
            <a:r>
              <a:rPr lang="en-US" altLang="en-US" b="1"/>
              <a:t>IBM watsonx</a:t>
            </a:r>
            <a:r>
              <a:rPr lang="en-US" altLang="en-US"/>
              <a:t>.ai, and </a:t>
            </a:r>
            <a:r>
              <a:rPr lang="en-US" altLang="en-US" b="1"/>
              <a:t>IBM Granite Models </a:t>
            </a:r>
            <a:r>
              <a:rPr lang="en-US" altLang="en-US"/>
              <a:t>to provide </a:t>
            </a:r>
            <a:r>
              <a:rPr lang="en-US" altLang="en-US" b="1"/>
              <a:t>personalized interview preparation</a:t>
            </a:r>
            <a:r>
              <a:rPr lang="en-US" altLang="en-US"/>
              <a:t>, realistic </a:t>
            </a:r>
            <a:r>
              <a:rPr lang="en-US" altLang="en-US" b="1"/>
              <a:t>mock interviews</a:t>
            </a:r>
            <a:r>
              <a:rPr lang="en-US" altLang="en-US"/>
              <a:t>, and </a:t>
            </a:r>
            <a:r>
              <a:rPr lang="en-US" altLang="en-US" b="1"/>
              <a:t>intelligent performance feedback</a:t>
            </a:r>
            <a:r>
              <a:rPr lang="en-US" altLang="en-US"/>
              <a:t>.</a:t>
            </a:r>
          </a:p>
          <a:p>
            <a:r>
              <a:rPr lang="en-US" altLang="en-US"/>
              <a:t>The solution uses AI to analyze the candidate’s resume, skills, target role, and interview responses to generate relevant questions and evaluate performance.</a:t>
            </a:r>
          </a:p>
          <a:p>
            <a:r>
              <a:rPr lang="en-US" altLang="en-US"/>
              <a:t>The system consists of key components:</a:t>
            </a:r>
          </a:p>
          <a:p>
            <a:r>
              <a:rPr lang="en-US" altLang="en-US" b="1"/>
              <a:t>Interview Question Agent </a:t>
            </a:r>
            <a:r>
              <a:rPr lang="en-US" altLang="en-US"/>
              <a:t>– Generates personalized technical, HR, and behavioral questions.</a:t>
            </a:r>
          </a:p>
          <a:p>
            <a:r>
              <a:rPr lang="en-US" altLang="en-US" b="1"/>
              <a:t>Interview Simulation Agent </a:t>
            </a:r>
            <a:r>
              <a:rPr lang="en-US" altLang="en-US"/>
              <a:t>– Conducts structured mock interview sessions.</a:t>
            </a:r>
          </a:p>
          <a:p>
            <a:r>
              <a:rPr lang="en-US" altLang="en-US" b="1"/>
              <a:t>Answer Evaluation Agent </a:t>
            </a:r>
            <a:r>
              <a:rPr lang="en-US" altLang="en-US"/>
              <a:t>– Analyzes responses and evaluates relevance, clarity, and quality.</a:t>
            </a:r>
          </a:p>
          <a:p>
            <a:r>
              <a:rPr lang="en-US" altLang="en-US" b="1"/>
              <a:t>Feedback Agent </a:t>
            </a:r>
            <a:r>
              <a:rPr lang="en-US" altLang="en-US"/>
              <a:t>– Provides personalized feedback and improvement suggestions.</a:t>
            </a:r>
          </a:p>
          <a:p>
            <a:r>
              <a:rPr lang="en-US" altLang="en-US" b="1"/>
              <a:t>Performance Dashboard </a:t>
            </a:r>
            <a:r>
              <a:rPr lang="en-US" altLang="en-US"/>
              <a:t>– Displays scores, strengths, weaknesses, and overall interview progress.</a:t>
            </a:r>
          </a:p>
          <a:p>
            <a:r>
              <a:rPr lang="en-US" altLang="en-US"/>
              <a:t>The solution provides an </a:t>
            </a:r>
            <a:r>
              <a:rPr lang="en-US" altLang="en-US" b="1"/>
              <a:t>end</a:t>
            </a:r>
            <a:r>
              <a:rPr lang="en-US" altLang="en-US"/>
              <a:t>-</a:t>
            </a:r>
            <a:r>
              <a:rPr lang="en-US" altLang="en-US" b="1"/>
              <a:t>to</a:t>
            </a:r>
            <a:r>
              <a:rPr lang="en-US" altLang="en-US"/>
              <a:t>-</a:t>
            </a:r>
            <a:r>
              <a:rPr lang="en-US" altLang="en-US" b="1"/>
              <a:t>end </a:t>
            </a:r>
            <a:r>
              <a:rPr lang="en-US" altLang="en-US"/>
              <a:t>intelligent interview preparation platform that helps candidates practice effectively, identify skill gaps, and improve their interview readiness through </a:t>
            </a:r>
            <a:r>
              <a:rPr lang="en-US" altLang="en-US" b="1"/>
              <a:t>AI</a:t>
            </a:r>
            <a:r>
              <a:rPr lang="en-US" altLang="en-US"/>
              <a:t>-</a:t>
            </a:r>
            <a:r>
              <a:rPr lang="en-US" altLang="en-US" b="1"/>
              <a:t>driven guidance </a:t>
            </a:r>
            <a:r>
              <a:rPr lang="en-US" altLang="en-US"/>
              <a:t>and </a:t>
            </a:r>
            <a:r>
              <a:rPr lang="en-US" altLang="en-US" b="1"/>
              <a:t>feedback</a:t>
            </a:r>
            <a:r>
              <a:rPr lang="en-US" altLang="en-US"/>
              <a:t>.</a:t>
            </a:r>
            <a:r>
              <a:rPr lang="en-US"/>
              <a:t> </a:t>
            </a:r>
          </a:p>
          <a:p>
            <a:endParaRPr lang="en-IN"/>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135"/>
            <a:ext cx="10515600" cy="5209540"/>
          </a:xfrm>
          <a:prstGeom prst="rect">
            <a:avLst/>
          </a:prstGeom>
          <a:noFill/>
        </p:spPr>
        <p:txBody>
          <a:bodyPr wrap="square" rtlCol="0">
            <a:noAutofit/>
          </a:bodyPr>
          <a:lstStyle/>
          <a:p>
            <a:pPr marL="285750" indent="-285750">
              <a:buFont typeface="Arial" panose="020B0604020202020204" pitchFamily="34" charset="0"/>
              <a:buChar char="•"/>
            </a:pPr>
            <a:r>
              <a:rPr lang="en-US" sz="1800" b="1"/>
              <a:t>IBM Bob platform </a:t>
            </a:r>
            <a:r>
              <a:rPr lang="en-US" sz="1800"/>
              <a:t>-For designing and orchestrating multi-agent </a:t>
            </a:r>
            <a:r>
              <a:rPr lang="en-IN" altLang="en-US" sz="1800"/>
              <a:t>interview </a:t>
            </a:r>
            <a:r>
              <a:rPr lang="en-US" sz="1800"/>
              <a:t>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a:t>
            </a:r>
            <a:r>
              <a:rPr lang="en-IN" altLang="en-US" sz="1800"/>
              <a:t>question generation</a:t>
            </a:r>
            <a:r>
              <a:rPr lang="en-US" sz="1800"/>
              <a:t> and personaliz</a:t>
            </a:r>
            <a:r>
              <a:rPr lang="en-IN" altLang="en-US" sz="1800"/>
              <a:t>ed interview feedback.</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a:t>
            </a:r>
            <a:r>
              <a:rPr lang="en-IN" altLang="en-US" sz="1800"/>
              <a:t>InterviewIQ</a:t>
            </a:r>
            <a:r>
              <a:rPr lang="en-US" sz="1800"/>
              <a:t> Agent efficiently. IBM Cloud enables a </a:t>
            </a:r>
            <a:r>
              <a:rPr lang="en-US" sz="1800" b="1"/>
              <a:t>reliable, secure, and scalable environment</a:t>
            </a:r>
            <a:r>
              <a:rPr lang="en-US" sz="1800"/>
              <a:t> for deploying the </a:t>
            </a:r>
            <a:r>
              <a:rPr lang="en-IN" altLang="en-US" sz="1800"/>
              <a:t>InterviewIQ</a:t>
            </a:r>
            <a:r>
              <a:rPr lang="en-US" sz="1800"/>
              <a:t>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a:t>
            </a:r>
            <a:r>
              <a:rPr lang="en-IN" altLang="en-US" sz="1800"/>
              <a:t>Retrives relevant information from the candidate’s resume and knowledge sources to generate accurate, personalized interview questions</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a:t>
            </a:r>
            <a:r>
              <a:rPr lang="en-IN" altLang="en-US" sz="1800"/>
              <a:t>AI development, </a:t>
            </a:r>
            <a:r>
              <a:rPr lang="en-US" sz="1800"/>
              <a:t>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 For efficient RAG-based retrieval of resume, skills, and interview-related information</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Required Files created using IBM bob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p:cNvPicPr>
            <a:picLocks noChangeAspect="1"/>
          </p:cNvPicPr>
          <p:nvPr/>
        </p:nvPicPr>
        <p:blipFill>
          <a:blip r:embed="rId3"/>
          <a:srcRect/>
          <a:stretch>
            <a:fillRect/>
          </a:stretch>
        </p:blipFill>
        <p:spPr>
          <a:xfrm>
            <a:off x="4014215" y="1916253"/>
            <a:ext cx="7868367" cy="4401367"/>
          </a:xfrm>
          <a:prstGeom prst="rect">
            <a:avLst/>
          </a:prstGeom>
        </p:spPr>
      </p:pic>
      <p:sp>
        <p:nvSpPr>
          <p:cNvPr id="9" name="Rectangle 8"/>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IBM Bob Screenshots:</a:t>
            </a:r>
            <a:endParaRPr sz="2400" b="1">
              <a:sym typeface="Times New Roman" panose="02020603050405020304"/>
            </a:endParaRPr>
          </a:p>
        </p:txBody>
      </p:sp>
      <p:pic>
        <p:nvPicPr>
          <p:cNvPr id="5" name="Picture 4"/>
          <p:cNvPicPr>
            <a:picLocks noChangeAspect="1"/>
          </p:cNvPicPr>
          <p:nvPr/>
        </p:nvPicPr>
        <p:blipFill>
          <a:blip r:embed="rId3"/>
          <a:srcRect/>
          <a:stretch>
            <a:fillRect/>
          </a:stretch>
        </p:blipFill>
        <p:spPr>
          <a:xfrm>
            <a:off x="1371600" y="1239475"/>
            <a:ext cx="9217740" cy="517921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rcRect/>
          <a:stretch>
            <a:fillRect/>
          </a:stretch>
        </p:blipFill>
        <p:spPr>
          <a:xfrm>
            <a:off x="642789" y="400546"/>
            <a:ext cx="10174487" cy="57167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panose="020F0502020204030204"/>
                <a:ea typeface="Calibri" panose="020F0502020204030204"/>
                <a:cs typeface="Calibri" panose="020F0502020204030204"/>
                <a:sym typeface="Calibri" panose="020F0502020204030204"/>
              </a:rPr>
              <a:t>Architecture blueprint for IBM bob:</a:t>
            </a:r>
            <a:endParaRPr lang="en-US" sz="2400"/>
          </a:p>
        </p:txBody>
      </p:sp>
      <p:pic>
        <p:nvPicPr>
          <p:cNvPr id="3" name="Picture 2"/>
          <p:cNvPicPr>
            <a:picLocks noChangeAspect="1"/>
          </p:cNvPicPr>
          <p:nvPr/>
        </p:nvPicPr>
        <p:blipFill>
          <a:blip r:embed="rId3"/>
          <a:srcRect/>
          <a:stretch>
            <a:fillRect/>
          </a:stretch>
        </p:blipFill>
        <p:spPr>
          <a:xfrm>
            <a:off x="535570" y="720380"/>
            <a:ext cx="11468100" cy="60924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298450" y="1167765"/>
            <a:ext cx="7406640" cy="4522470"/>
          </a:xfrm>
          <a:prstGeom prst="rect">
            <a:avLst/>
          </a:prstGeom>
          <a:noFill/>
        </p:spPr>
        <p:txBody>
          <a:bodyPr wrap="square" rtlCol="0">
            <a:noAutofit/>
          </a:bodyPr>
          <a:lstStyle/>
          <a:p>
            <a:r>
              <a:rPr lang="en-US" altLang="en-US" sz="1600" b="1"/>
              <a:t>Role of Agentic AI in InterviewIQ Agent</a:t>
            </a:r>
            <a:endParaRPr lang="en-US" altLang="en-US" sz="1600"/>
          </a:p>
          <a:p>
            <a:r>
              <a:rPr lang="en-US" altLang="en-US" b="1"/>
              <a:t>Agentic </a:t>
            </a:r>
            <a:r>
              <a:rPr lang="en-US" altLang="en-US"/>
              <a:t>AI enables the </a:t>
            </a:r>
            <a:r>
              <a:rPr lang="en-US" altLang="en-US" b="1"/>
              <a:t>InterviewIQ Agent </a:t>
            </a:r>
            <a:r>
              <a:rPr lang="en-US" altLang="en-US"/>
              <a:t>to function as an </a:t>
            </a:r>
            <a:r>
              <a:rPr lang="en-US" altLang="en-US" b="1"/>
              <a:t>intelligent</a:t>
            </a:r>
            <a:r>
              <a:rPr lang="en-US" altLang="en-US"/>
              <a:t>, </a:t>
            </a:r>
            <a:r>
              <a:rPr lang="en-US" altLang="en-US" b="1"/>
              <a:t>autonomous </a:t>
            </a:r>
            <a:r>
              <a:rPr lang="en-US" altLang="en-US"/>
              <a:t>interview-preparation system rather than a simple chatbot. Using </a:t>
            </a:r>
            <a:r>
              <a:rPr lang="en-US" altLang="en-US" b="1"/>
              <a:t>IBM watsonx</a:t>
            </a:r>
            <a:r>
              <a:rPr lang="en-US" altLang="en-US"/>
              <a:t>.</a:t>
            </a:r>
            <a:r>
              <a:rPr lang="en-US" altLang="en-US" b="1"/>
              <a:t>ai</a:t>
            </a:r>
            <a:r>
              <a:rPr lang="en-US" altLang="en-US"/>
              <a:t>, </a:t>
            </a:r>
            <a:r>
              <a:rPr lang="en-US" altLang="en-US" b="1"/>
              <a:t>IBM Granite models</a:t>
            </a:r>
            <a:r>
              <a:rPr lang="en-US" altLang="en-US"/>
              <a:t>, and </a:t>
            </a:r>
            <a:r>
              <a:rPr lang="en-US" altLang="en-US" b="1"/>
              <a:t>IBM Bob</a:t>
            </a:r>
            <a:r>
              <a:rPr lang="en-US" altLang="en-US"/>
              <a:t>, it coordinates multiple specialized agents to provide personalized interview preparation.</a:t>
            </a:r>
          </a:p>
          <a:p>
            <a:r>
              <a:rPr lang="en-US" altLang="en-US"/>
              <a:t>Each agent performs a specific role—such as analyzing the user’s </a:t>
            </a:r>
            <a:r>
              <a:rPr lang="en-US" altLang="en-US" b="1"/>
              <a:t>resume</a:t>
            </a:r>
            <a:r>
              <a:rPr lang="en-US" altLang="en-US"/>
              <a:t>, </a:t>
            </a:r>
            <a:r>
              <a:rPr lang="en-US" altLang="en-US" b="1"/>
              <a:t>retrieving </a:t>
            </a:r>
            <a:r>
              <a:rPr lang="en-US" altLang="en-US"/>
              <a:t>relevant </a:t>
            </a:r>
            <a:r>
              <a:rPr lang="en-US" altLang="en-US" b="1"/>
              <a:t>interview questions</a:t>
            </a:r>
            <a:r>
              <a:rPr lang="en-US" altLang="en-US"/>
              <a:t>, generating </a:t>
            </a:r>
            <a:r>
              <a:rPr lang="en-US" altLang="en-US" b="1"/>
              <a:t>technical </a:t>
            </a:r>
            <a:r>
              <a:rPr lang="en-US" altLang="en-US"/>
              <a:t>and </a:t>
            </a:r>
            <a:r>
              <a:rPr lang="en-US" altLang="en-US" b="1"/>
              <a:t>HR questions</a:t>
            </a:r>
            <a:r>
              <a:rPr lang="en-US" altLang="en-US"/>
              <a:t>, </a:t>
            </a:r>
            <a:r>
              <a:rPr lang="en-US" altLang="en-US" b="1"/>
              <a:t>evaluating answers</a:t>
            </a:r>
            <a:r>
              <a:rPr lang="en-US" altLang="en-US"/>
              <a:t>, and </a:t>
            </a:r>
            <a:r>
              <a:rPr lang="en-US" altLang="en-US" b="1"/>
              <a:t>providing feedback</a:t>
            </a:r>
            <a:r>
              <a:rPr lang="en-US" altLang="en-US"/>
              <a:t>—while working collaboratively. This multi-agent approach ensures efficient task execution and relevant results.</a:t>
            </a:r>
          </a:p>
          <a:p>
            <a:r>
              <a:rPr lang="en-US" altLang="en-US" b="1"/>
              <a:t>Agentic AI </a:t>
            </a:r>
            <a:r>
              <a:rPr lang="en-US" altLang="en-US"/>
              <a:t>brings context awareness by understanding the user’s </a:t>
            </a:r>
            <a:r>
              <a:rPr lang="en-US" altLang="en-US" b="1"/>
              <a:t>skills</a:t>
            </a:r>
            <a:r>
              <a:rPr lang="en-US" altLang="en-US"/>
              <a:t>, </a:t>
            </a:r>
            <a:r>
              <a:rPr lang="en-US" altLang="en-US" b="1"/>
              <a:t>resume</a:t>
            </a:r>
            <a:r>
              <a:rPr lang="en-US" altLang="en-US"/>
              <a:t>, </a:t>
            </a:r>
            <a:r>
              <a:rPr lang="en-US" altLang="en-US" b="1"/>
              <a:t>target role</a:t>
            </a:r>
            <a:r>
              <a:rPr lang="en-US" altLang="en-US"/>
              <a:t>, and previous responses to generate tailored interview questions and recommendations. It supports </a:t>
            </a:r>
            <a:r>
              <a:rPr lang="en-US" altLang="en-US" b="1"/>
              <a:t>real</a:t>
            </a:r>
            <a:r>
              <a:rPr lang="en-US" altLang="en-US"/>
              <a:t>-</a:t>
            </a:r>
            <a:r>
              <a:rPr lang="en-US" altLang="en-US" b="1"/>
              <a:t>time adaptation</a:t>
            </a:r>
            <a:r>
              <a:rPr lang="en-US" altLang="en-US"/>
              <a:t>, continuously adjusting </a:t>
            </a:r>
            <a:r>
              <a:rPr lang="en-US" altLang="en-US" b="1"/>
              <a:t>questions </a:t>
            </a:r>
            <a:r>
              <a:rPr lang="en-US" altLang="en-US"/>
              <a:t>and </a:t>
            </a:r>
            <a:r>
              <a:rPr lang="en-US" altLang="en-US" b="1"/>
              <a:t>feedback </a:t>
            </a:r>
            <a:r>
              <a:rPr lang="en-US" altLang="en-US"/>
              <a:t>based on the user’s </a:t>
            </a:r>
            <a:r>
              <a:rPr lang="en-US" altLang="en-US" b="1"/>
              <a:t>answers </a:t>
            </a:r>
            <a:r>
              <a:rPr lang="en-US" altLang="en-US"/>
              <a:t>and </a:t>
            </a:r>
            <a:r>
              <a:rPr lang="en-US" altLang="en-US" b="1"/>
              <a:t>performance</a:t>
            </a:r>
            <a:r>
              <a:rPr lang="en-US" altLang="en-US"/>
              <a:t>.</a:t>
            </a:r>
          </a:p>
          <a:p>
            <a:r>
              <a:rPr lang="en-US" altLang="en-US"/>
              <a:t>Additionally, agents communicate with each other to improve </a:t>
            </a:r>
            <a:r>
              <a:rPr lang="en-US" altLang="en-US" b="1"/>
              <a:t>decision</a:t>
            </a:r>
            <a:r>
              <a:rPr lang="en-US" altLang="en-US"/>
              <a:t>-</a:t>
            </a:r>
            <a:r>
              <a:rPr lang="en-US" altLang="en-US" b="1"/>
              <a:t>making</a:t>
            </a:r>
            <a:r>
              <a:rPr lang="en-US" altLang="en-US"/>
              <a:t>, question relevance, answer evaluation, and personalized feedback.</a:t>
            </a:r>
          </a:p>
          <a:p>
            <a:r>
              <a:rPr lang="en-US" altLang="en-US"/>
              <a:t>Overall, Agentic AI makes </a:t>
            </a:r>
            <a:r>
              <a:rPr lang="en-US" altLang="en-US" b="1"/>
              <a:t>InterviewIQ Agent </a:t>
            </a:r>
            <a:r>
              <a:rPr lang="en-US" altLang="en-US"/>
              <a:t>proactive, personalized, adaptive, and </a:t>
            </a:r>
            <a:r>
              <a:rPr lang="en-US" altLang="en-US" b="1"/>
              <a:t>goal</a:t>
            </a:r>
            <a:r>
              <a:rPr lang="en-US" altLang="en-US"/>
              <a:t>-</a:t>
            </a:r>
            <a:r>
              <a:rPr lang="en-US" altLang="en-US" b="1"/>
              <a:t>driven</a:t>
            </a:r>
            <a:r>
              <a:rPr lang="en-US" altLang="en-US"/>
              <a:t>, acting as a smart digital interview coach that helps users improve their interview readiness.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IN" dirty="0"/>
              <a:t>4369</a:t>
            </a:r>
            <a:r>
              <a:rPr lang="en-US" dirty="0"/>
              <a:t> token are used</a:t>
            </a:r>
          </a:p>
        </p:txBody>
      </p:sp>
      <p:pic>
        <p:nvPicPr>
          <p:cNvPr id="12" name="Picture 11"/>
          <p:cNvPicPr>
            <a:picLocks noChangeAspect="1"/>
          </p:cNvPicPr>
          <p:nvPr/>
        </p:nvPicPr>
        <p:blipFill>
          <a:blip r:embed="rId3"/>
          <a:srcRect/>
          <a:stretch>
            <a:fillRect/>
          </a:stretch>
        </p:blipFill>
        <p:spPr>
          <a:xfrm>
            <a:off x="114240" y="2541490"/>
            <a:ext cx="5095875" cy="2681704"/>
          </a:xfrm>
          <a:prstGeom prst="rect">
            <a:avLst/>
          </a:prstGeom>
        </p:spPr>
      </p:pic>
      <p:pic>
        <p:nvPicPr>
          <p:cNvPr id="13" name="Picture 12"/>
          <p:cNvPicPr>
            <a:picLocks noChangeAspect="1"/>
          </p:cNvPicPr>
          <p:nvPr/>
        </p:nvPicPr>
        <p:blipFill>
          <a:blip r:embed="rId4"/>
          <a:srcRect/>
          <a:stretch>
            <a:fillRect/>
          </a:stretch>
        </p:blipFill>
        <p:spPr>
          <a:xfrm>
            <a:off x="6290681" y="2451181"/>
            <a:ext cx="5462365" cy="2857500"/>
          </a:xfrm>
          <a:prstGeom prst="rect">
            <a:avLst/>
          </a:prstGeom>
        </p:spPr>
      </p:pic>
      <p:sp>
        <p:nvSpPr>
          <p:cNvPr id="14" name="TextBox 13"/>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Before Prompt</a:t>
            </a:r>
          </a:p>
        </p:txBody>
      </p:sp>
      <p:sp>
        <p:nvSpPr>
          <p:cNvPr id="15" name="TextBox 14"/>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u="sng"/>
              <a:t>After the Prompt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p:cNvPicPr>
            <a:picLocks noChangeAspect="1"/>
          </p:cNvPicPr>
          <p:nvPr/>
        </p:nvPicPr>
        <p:blipFill>
          <a:blip r:embed="rId3"/>
          <a:srcRect/>
          <a:stretch>
            <a:fillRect/>
          </a:stretch>
        </p:blipFill>
        <p:spPr>
          <a:xfrm>
            <a:off x="586548" y="885593"/>
            <a:ext cx="10809066" cy="57152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p:cNvPicPr>
            <a:picLocks noChangeAspect="1"/>
          </p:cNvPicPr>
          <p:nvPr/>
        </p:nvPicPr>
        <p:blipFill>
          <a:blip r:embed="rId3"/>
          <a:srcRect/>
          <a:stretch>
            <a:fillRect/>
          </a:stretch>
        </p:blipFill>
        <p:spPr>
          <a:xfrm>
            <a:off x="789771" y="1004536"/>
            <a:ext cx="10037302" cy="52884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 Project Output Screenshot</a:t>
            </a:r>
            <a:endParaRPr sz="2400" b="1">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p:cNvPicPr>
            <a:picLocks noChangeAspect="1"/>
          </p:cNvPicPr>
          <p:nvPr/>
        </p:nvPicPr>
        <p:blipFill>
          <a:blip r:embed="rId3"/>
          <a:srcRect/>
          <a:stretch>
            <a:fillRect/>
          </a:stretch>
        </p:blipFill>
        <p:spPr>
          <a:xfrm>
            <a:off x="804493" y="1030872"/>
            <a:ext cx="10583014" cy="54833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5354320"/>
          </a:xfrm>
          <a:prstGeom prst="rect">
            <a:avLst/>
          </a:prstGeom>
          <a:noFill/>
        </p:spPr>
        <p:txBody>
          <a:bodyPr wrap="square" rtlCol="0">
            <a:spAutoFit/>
          </a:bodyPr>
          <a:lstStyle/>
          <a:p>
            <a:r>
              <a:rPr lang="en-US" altLang="en-US" sz="1800"/>
              <a:t>The proposed </a:t>
            </a:r>
            <a:r>
              <a:rPr lang="en-US" altLang="en-US" sz="1800" b="1"/>
              <a:t>InterviewIQ </a:t>
            </a:r>
            <a:r>
              <a:rPr lang="en-US" altLang="en-US" sz="1800"/>
              <a:t>Agent stands out by combining </a:t>
            </a:r>
            <a:r>
              <a:rPr lang="en-US" altLang="en-US" sz="1800" b="1"/>
              <a:t>Agentic AI</a:t>
            </a:r>
            <a:r>
              <a:rPr lang="en-US" altLang="en-US" sz="1800"/>
              <a:t>, </a:t>
            </a:r>
            <a:r>
              <a:rPr lang="en-US" altLang="en-US" sz="1800" b="1"/>
              <a:t>RAG</a:t>
            </a:r>
            <a:r>
              <a:rPr lang="en-US" altLang="en-US" sz="1800"/>
              <a:t>, and personalization into a single intelligent </a:t>
            </a:r>
            <a:r>
              <a:rPr lang="en-US" altLang="en-US" sz="1800" b="1"/>
              <a:t>interview</a:t>
            </a:r>
            <a:r>
              <a:rPr lang="en-US" altLang="en-US" sz="1800"/>
              <a:t>-</a:t>
            </a:r>
            <a:r>
              <a:rPr lang="en-US" altLang="en-US" sz="1800" b="1"/>
              <a:t>preparation system</a:t>
            </a:r>
            <a:r>
              <a:rPr lang="en-US" altLang="en-US" sz="1800"/>
              <a:t>.</a:t>
            </a:r>
          </a:p>
          <a:p>
            <a:r>
              <a:rPr lang="en-US" altLang="en-US" sz="1800" b="1"/>
              <a:t>Multi</a:t>
            </a:r>
            <a:r>
              <a:rPr lang="en-US" altLang="en-US" sz="1800"/>
              <a:t>-</a:t>
            </a:r>
            <a:r>
              <a:rPr lang="en-US" altLang="en-US" sz="1800" b="1"/>
              <a:t>Agent Intelligence </a:t>
            </a:r>
            <a:r>
              <a:rPr lang="en-US" altLang="en-US" sz="1800"/>
              <a:t>– Multiple specialized agents collaborate to provide personalized interview preparation.</a:t>
            </a:r>
          </a:p>
          <a:p>
            <a:r>
              <a:rPr lang="en-US" altLang="en-US" sz="1800" b="1"/>
              <a:t>RAG</a:t>
            </a:r>
            <a:r>
              <a:rPr lang="en-US" altLang="en-US" sz="1800"/>
              <a:t>-</a:t>
            </a:r>
            <a:r>
              <a:rPr lang="en-US" altLang="en-US" sz="1800" b="1"/>
              <a:t>Based Accuracy </a:t>
            </a:r>
            <a:r>
              <a:rPr lang="en-US" altLang="en-US" sz="1800"/>
              <a:t>– Retrieves relevant interview information and combines it with AI generation for reliable questions and guidance.</a:t>
            </a:r>
          </a:p>
          <a:p>
            <a:r>
              <a:rPr lang="en-US" altLang="en-US" sz="1800" b="1"/>
              <a:t>Hyper</a:t>
            </a:r>
            <a:r>
              <a:rPr lang="en-US" altLang="en-US" sz="1800"/>
              <a:t>-</a:t>
            </a:r>
            <a:r>
              <a:rPr lang="en-US" altLang="en-US" sz="1800" b="1"/>
              <a:t>Personalization </a:t>
            </a:r>
            <a:r>
              <a:rPr lang="en-US" altLang="en-US" sz="1800"/>
              <a:t>– Tailors interview questions based on the user's resume, skills, experience, and target job role.</a:t>
            </a:r>
          </a:p>
          <a:p>
            <a:r>
              <a:rPr lang="en-US" altLang="en-US" sz="1800" b="1"/>
              <a:t>Real</a:t>
            </a:r>
            <a:r>
              <a:rPr lang="en-US" altLang="en-US" sz="1800"/>
              <a:t>-</a:t>
            </a:r>
            <a:r>
              <a:rPr lang="en-US" altLang="en-US" sz="1800" b="1"/>
              <a:t>Time Feedback Loop </a:t>
            </a:r>
            <a:r>
              <a:rPr lang="en-US" altLang="en-US" sz="1800"/>
              <a:t>– Continuously adapts questions and recommendations based on the user's answers and performance.</a:t>
            </a:r>
          </a:p>
          <a:p>
            <a:r>
              <a:rPr lang="en-US" altLang="en-US" sz="1800" b="1"/>
              <a:t>Multi</a:t>
            </a:r>
            <a:r>
              <a:rPr lang="en-US" altLang="en-US" sz="1800"/>
              <a:t>-</a:t>
            </a:r>
            <a:r>
              <a:rPr lang="en-US" altLang="en-US" sz="1800" b="1"/>
              <a:t>Modal Interaction </a:t>
            </a:r>
            <a:r>
              <a:rPr lang="en-US" altLang="en-US" sz="1800"/>
              <a:t>– Supports text-based interaction and can be extended to voice-based interview practice.</a:t>
            </a:r>
          </a:p>
          <a:p>
            <a:r>
              <a:rPr lang="en-US" altLang="en-US" sz="1800" b="1"/>
              <a:t>Technical </a:t>
            </a:r>
            <a:r>
              <a:rPr lang="en-US" altLang="en-US" sz="1800"/>
              <a:t>+ </a:t>
            </a:r>
            <a:r>
              <a:rPr lang="en-US" altLang="en-US" sz="1800" b="1"/>
              <a:t>HR Preparation </a:t>
            </a:r>
            <a:r>
              <a:rPr lang="en-US" altLang="en-US" sz="1800"/>
              <a:t>– Covers technical, coding, behavioral, and HR interview questions in one platform.</a:t>
            </a:r>
          </a:p>
          <a:p>
            <a:r>
              <a:rPr lang="en-US" altLang="en-US" sz="1800" b="1"/>
              <a:t>Performance Analysis </a:t>
            </a:r>
            <a:r>
              <a:rPr lang="en-US" altLang="en-US" sz="1800"/>
              <a:t>– Evaluates responses and provides actionable feedback to help users improve.</a:t>
            </a:r>
          </a:p>
          <a:p>
            <a:r>
              <a:rPr lang="en-US" altLang="en-US" sz="1800" b="1"/>
              <a:t>Scalable </a:t>
            </a:r>
            <a:r>
              <a:rPr lang="en-US" altLang="en-US" sz="1800"/>
              <a:t>&amp; </a:t>
            </a:r>
            <a:r>
              <a:rPr lang="en-US" altLang="en-US" sz="1800" b="1"/>
              <a:t>Enterprise</a:t>
            </a:r>
            <a:r>
              <a:rPr lang="en-US" altLang="en-US" sz="1800"/>
              <a:t>-</a:t>
            </a:r>
            <a:r>
              <a:rPr lang="en-US" altLang="en-US" sz="1800" b="1"/>
              <a:t>Ready </a:t>
            </a:r>
            <a:r>
              <a:rPr lang="en-US" altLang="en-US" sz="1800"/>
              <a:t>– Built using IBM watsonx.ai, IBM Granite models, and IBM Bob, supporting reliable AI workflows and deployment.</a:t>
            </a:r>
          </a:p>
          <a:p>
            <a:r>
              <a:rPr lang="en-US" altLang="en-US" sz="1800"/>
              <a:t>This makes InterviewIQ Agent a </a:t>
            </a:r>
            <a:r>
              <a:rPr lang="en-US" altLang="en-US" sz="1800" b="1"/>
              <a:t>smart</a:t>
            </a:r>
            <a:r>
              <a:rPr lang="en-US" altLang="en-US" sz="1800"/>
              <a:t>, </a:t>
            </a:r>
            <a:r>
              <a:rPr lang="en-US" altLang="en-US" sz="1800" b="1"/>
              <a:t>adaptive</a:t>
            </a:r>
            <a:r>
              <a:rPr lang="en-US" altLang="en-US" sz="1800"/>
              <a:t>, and </a:t>
            </a:r>
            <a:r>
              <a:rPr lang="en-US" altLang="en-US" sz="1800" b="1"/>
              <a:t>proactive digital interview coach</a:t>
            </a:r>
            <a:r>
              <a:rPr lang="en-US" altLang="en-US" sz="1800"/>
              <a:t>, not just a static question-generation tool.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Please create public </a:t>
            </a:r>
            <a:r>
              <a:rPr lang="en-US" sz="1850" b="0" i="0" u="none" strike="noStrike" cap="none"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r>
              <a:rPr lang="en-IN"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hlinkClick r:id="rId3" action="ppaction://hlinkfile"/>
              </a:rPr>
              <a:t>github</a:t>
            </a:r>
            <a:endParaRPr lang="en-US" alt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lang="en-US" sz="1850" b="1"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1">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br>
            <a:r>
              <a:rPr lang="en-US" sz="1850">
                <a:solidFill>
                  <a:srgbClr val="2B3541"/>
                </a:solidFill>
                <a:latin typeface="Times New Roman" panose="02020603050405020304"/>
                <a:ea typeface="Times New Roman" panose="02020603050405020304"/>
                <a:cs typeface="Times New Roman" panose="02020603050405020304"/>
                <a:sym typeface="Times New Roman" panose="02020603050405020304"/>
              </a:rPr>
              <a:t>1) All Agent relevant files of IBM Cloud , 2) yourproblemstatement.pdf file  3) your projectpresntation.pptx file 4)any other files </a:t>
            </a: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024255" y="1221740"/>
            <a:ext cx="9615170" cy="5026660"/>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1</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AI</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Powered Mock Interviews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Add real-time mock interview sessions where the system asks questions, evaluates responses, and provides personalized feedback.</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2.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Voice</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Based Interview Practice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Enable voice interaction for a more realistic interview experience, including speech-based answers and feedback.</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3.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Multilingual Support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Support multiple languages to make interview preparation accessible to a wider range of users.</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4.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Advanced Performance Analytics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Provide detailed dashboards showing strengths, weaknesses, improvement areas, and interview readiness scores.</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5.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Job</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Specific Preparation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Integrate job descriptions to automatically generate role-specific questions and preparation plans based on required skills.</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6. </a:t>
            </a:r>
            <a:r>
              <a:rPr lang="en-US" altLang="en-US" sz="1600" b="1"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Continuous Learning </a:t>
            </a:r>
            <a:r>
              <a:rPr lang="en-US" altLang="en-US" sz="160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 Improve recommendations over time by learning from previous interview sessions, user performance, and feedback.</a:t>
            </a: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p>
          <a:p>
            <a:pPr algn="ctr"/>
            <a:endParaRPr lang="en-US"/>
          </a:p>
        </p:txBody>
      </p:sp>
      <p:sp>
        <p:nvSpPr>
          <p:cNvPr id="3" name="TextBox 2"/>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2" name="Picture 1"/>
          <p:cNvPicPr>
            <a:picLocks noChangeAspect="1"/>
          </p:cNvPicPr>
          <p:nvPr/>
        </p:nvPicPr>
        <p:blipFill>
          <a:blip r:embed="rId2"/>
          <a:stretch>
            <a:fillRect/>
          </a:stretch>
        </p:blipFill>
        <p:spPr>
          <a:xfrm>
            <a:off x="2549304" y="1438022"/>
            <a:ext cx="6922276" cy="50496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p>
        </p:txBody>
      </p:sp>
      <p:pic>
        <p:nvPicPr>
          <p:cNvPr id="2" name="Picture 1"/>
          <p:cNvPicPr>
            <a:picLocks noChangeAspect="1"/>
          </p:cNvPicPr>
          <p:nvPr/>
        </p:nvPicPr>
        <p:blipFill>
          <a:blip r:embed="rId2"/>
          <a:stretch>
            <a:fillRect/>
          </a:stretch>
        </p:blipFill>
        <p:spPr>
          <a:xfrm>
            <a:off x="2766980" y="1477578"/>
            <a:ext cx="6850543" cy="49846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8440</Words>
  <Application>Microsoft Office PowerPoint</Application>
  <PresentationFormat>Widescreen</PresentationFormat>
  <Paragraphs>213</Paragraphs>
  <Slides>20</Slides>
  <Notes>16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Pranav Kurupath</cp:lastModifiedBy>
  <cp:revision>12</cp:revision>
  <dcterms:created xsi:type="dcterms:W3CDTF">2025-07-08T05:06:00Z</dcterms:created>
  <dcterms:modified xsi:type="dcterms:W3CDTF">2026-09-09T10:23:04Z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1044DAC15EA64DD5A2CE725285AE1031_13</vt:lpwstr>
  </property>
</Properties>
</file>